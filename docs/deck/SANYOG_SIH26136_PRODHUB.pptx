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/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2400" b="0">
                <a:solidFill>
                  <a:srgbClr val="000000"/>
                </a:solidFill>
                <a:latin typeface="Arial"/>
              </a:rPr>
              <a:t> SIH26136</a:t>
            </a:r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300" b="0">
                <a:solidFill>
                  <a:srgbClr val="000000"/>
                </a:solidFill>
                <a:latin typeface="Arial"/>
              </a:rPr>
              <a:t> Startup friendly public procurement mechanism that enables government departments to identify, pilot, procure, and scale innovative solutions from eligible startups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2400" b="0">
                <a:solidFill>
                  <a:srgbClr val="000000"/>
                </a:solidFill>
                <a:latin typeface="Arial"/>
              </a:rPr>
              <a:t> Miscellaneous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sz="2400" b="0">
                <a:solidFill>
                  <a:srgbClr val="000000"/>
                </a:solidFill>
                <a:latin typeface="Arial"/>
              </a:rPr>
              <a:t>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2400" b="0">
                <a:solidFill>
                  <a:srgbClr val="000000"/>
                </a:solidFill>
                <a:latin typeface="Arial"/>
              </a:rPr>
              <a:t>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Name-</a:t>
            </a:r>
            <a:r>
              <a:rPr sz="2400" b="0">
                <a:solidFill>
                  <a:srgbClr val="000000"/>
                </a:solidFill>
                <a:latin typeface="Arial"/>
              </a:rPr>
              <a:t> PRODHUB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0040" y="1078992"/>
            <a:ext cx="1156716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None/>
            </a:pPr>
            <a:r>
              <a:rPr sz="1250" b="1">
                <a:solidFill>
                  <a:srgbClr val="000000"/>
                </a:solidFill>
                <a:latin typeface="Arial"/>
              </a:rPr>
              <a:t>SANYOG (संयोग) — an end-to-end digital pathway that takes a government department from a written problem to a scaled, procured startup solution, in eight governed stages: Challenge → Screening → Evaluation → Sandbox → Contract → Milestones → Validation → Scale-up.</a:t>
            </a:r>
          </a:p>
          <a:p>
            <a: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Wingdings"/>
              <a:buChar char="v"/>
            </a:pPr>
            <a:r>
              <a:rPr sz="1400" b="1" u="sng">
                <a:solidFill>
                  <a:schemeClr val="tx2"/>
                </a:solidFill>
                <a:latin typeface="Arial"/>
              </a:rPr>
              <a:t>Detailed explanation of the proposed solution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Departments publish outcome-based challenges with a mandatory measured baseline → target; DPIIT-recognised startups are auto-screened for eligibility on application.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Every pilot runs in a governed sandbox (security clearance, fixed exit date) and pays 30/40/30 against verified milestones, with the MSMED 45-day payment clock visible on each tranche.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Independent validators record measurements against pre-locked KPIs; three satisfactory departmental endorsements unlock scale-up and a ready GeM listing export.</a:t>
            </a:r>
          </a:p>
          <a:p>
            <a: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Wingdings"/>
              <a:buChar char="v"/>
            </a:pPr>
            <a:r>
              <a:rPr sz="1400" b="1" u="sng">
                <a:solidFill>
                  <a:schemeClr val="tx2"/>
                </a:solidFill>
                <a:latin typeface="Arial"/>
              </a:rPr>
              <a:t>How it addresses the problem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Removes turnover, prior-experience and EMD barriers (GFR Rule 173(i) &amp; 170(i) applied as defaults) — while quality criteria are never waived.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Gives departments the three standard templates — Problem Statement, Pilot Agreement/MOU (IP, data, liability) and Scale-Up Scorecard — as working digital forms, not documents.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Makes departmental demand visible, payments timed, evaluations accountable and every decision evidence-based and audit-traceable.</a:t>
            </a:r>
          </a:p>
          <a:p>
            <a: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Wingdings"/>
              <a:buChar char="v"/>
            </a:pPr>
            <a:r>
              <a:rPr sz="1400" b="1" u="sng">
                <a:solidFill>
                  <a:schemeClr val="tx2"/>
                </a:solidFill>
                <a:latin typeface="Arial"/>
              </a:rPr>
              <a:t>Innovation and uniqueness of the solution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Compliance is computed, not promised — the database itself refuses payment without verification, an active sandbox without security clearance, and rejection without a stated reason.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KPIs are pre-registered and locked before measurement begins; deemed-approval clocks stop applications from dying in queues; panel scores are attributable with mandatory rationale.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A validated pilot’s evidence pack exports directly to GeM — scale-up across departments without a fresh tender.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/>
              <a:t>PRODHUB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024128"/>
            <a:ext cx="11384280" cy="8686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285750" indent="-285750"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Arial"/>
              </a:rPr>
              <a:t>React 19 + TanStack Start · Cloudflare Workers edge SSR · Supabase PostgreSQL (RLS, column grants) · Groq LLM (FitScore™ + assistant)</a:t>
            </a:r>
          </a:p>
          <a:p>
            <a:pPr marL="285750" indent="-285750">
              <a:lnSpc>
                <a:spcPct val="100000"/>
              </a:lnSpc>
              <a:spcBef>
                <a:spcPts val="300"/>
              </a:spcBef>
              <a:spcAft>
                <a:spcPts val="200"/>
              </a:spcAft>
              <a:buFont typeface="Arial"/>
              <a:buChar char="•"/>
            </a:pPr>
            <a:r>
              <a:rPr sz="1050" b="0">
                <a:solidFill>
                  <a:srgbClr val="000000"/>
                </a:solidFill>
                <a:latin typeface="Arial"/>
              </a:rPr>
              <a:t>JWT + Google OAuth role-gated portals · DPIIT auto-screening · GeM (Startup Runway) listing export · integrity rules enforced in the database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/>
              <a:t>PRODHUB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938528"/>
            <a:ext cx="11384280" cy="347472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02920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1. Challenge published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783080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1911096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2. Eligibility screen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191256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319272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3. Panel evaluation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99432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727448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4. Sandbox clearance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007608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35624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5. Milestone payments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15784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7543800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6. Independent validation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823960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951976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7. Three-dept gate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232136" y="2514600"/>
            <a:ext cx="128016" cy="27432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/>
            <a:r>
              <a:rPr sz="1300" b="1">
                <a:solidFill>
                  <a:srgbClr val="595959"/>
                </a:solidFill>
                <a:latin typeface="Arial"/>
              </a:rPr>
              <a:t>→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0360152" y="2359152"/>
            <a:ext cx="1280160" cy="585216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</a:pPr>
            <a:r>
              <a:rPr sz="880" b="1">
                <a:solidFill>
                  <a:srgbClr val="000000"/>
                </a:solidFill>
                <a:latin typeface="Arial"/>
              </a:rPr>
              <a:t>8. GeM scale-up</a:t>
            </a:r>
          </a:p>
        </p:txBody>
      </p:sp>
      <p:pic>
        <p:nvPicPr>
          <p:cNvPr id="17427" name="Picture 17426" descr="challenge_desk_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27248"/>
            <a:ext cx="5120640" cy="2828239"/>
          </a:xfrm>
          <a:prstGeom prst="rect">
            <a:avLst/>
          </a:prstGeom>
          <a:ln w="12700">
            <a:solidFill>
              <a:srgbClr val="BFBFBF"/>
            </a:solidFill>
          </a:ln>
          <a:effectLst/>
        </p:spPr>
      </p:pic>
      <p:pic>
        <p:nvPicPr>
          <p:cNvPr id="17428" name="Picture 17427" descr="milestones_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3127248"/>
            <a:ext cx="4160520" cy="1109167"/>
          </a:xfrm>
          <a:prstGeom prst="rect">
            <a:avLst/>
          </a:prstGeom>
          <a:ln w="12700">
            <a:solidFill>
              <a:srgbClr val="BFBFBF"/>
            </a:solidFill>
          </a:ln>
          <a:effectLst/>
        </p:spPr>
      </p:pic>
      <p:pic>
        <p:nvPicPr>
          <p:cNvPr id="17429" name="Picture 17428" descr="scale_gate_deskt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4327855"/>
            <a:ext cx="4160520" cy="1768449"/>
          </a:xfrm>
          <a:prstGeom prst="rect">
            <a:avLst/>
          </a:prstGeom>
          <a:ln w="12700">
            <a:solidFill>
              <a:srgbClr val="BFBFBF"/>
            </a:solidFill>
          </a:ln>
          <a:effectLst/>
        </p:spPr>
      </p:pic>
      <p:pic>
        <p:nvPicPr>
          <p:cNvPr id="17430" name="Picture 17429" descr="board_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127248"/>
            <a:ext cx="1394460" cy="3017520"/>
          </a:xfrm>
          <a:prstGeom prst="rect">
            <a:avLst/>
          </a:prstGeom>
          <a:ln w="12700">
            <a:solidFill>
              <a:srgbClr val="BFBFBF"/>
            </a:solidFill>
          </a:ln>
          <a:effectLst/>
        </p:spPr>
      </p:pic>
      <p:sp>
        <p:nvSpPr>
          <p:cNvPr id="17431" name="TextBox 17430"/>
          <p:cNvSpPr txBox="1"/>
          <p:nvPr/>
        </p:nvSpPr>
        <p:spPr>
          <a:xfrm>
            <a:off x="502920" y="6144768"/>
            <a:ext cx="11155680" cy="219456"/>
          </a:xfrm>
          <a:prstGeom prst="rect">
            <a:avLst/>
          </a:prstGeom>
          <a:noFill/>
        </p:spPr>
        <p:txBody>
          <a:bodyPr wrap="none"/>
          <a:lstStyle/>
          <a:p>
            <a:r>
              <a:rPr sz="950" i="1">
                <a:solidFill>
                  <a:srgbClr val="595959"/>
                </a:solidFill>
                <a:latin typeface="Arial"/>
              </a:rPr>
              <a:t>Working prototype — live at sanyog.ashutosh-palai2005.workers.dev: Challenge Desk · milestone engine · 3-department scale-up gate with GeM export · mobile 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078992"/>
            <a:ext cx="1138428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285750" indent="-285750"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Analysis of the feasibility of the idea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Needs no new law — GFR 2017 already permits every relaxation applied (Rule 173(i) turnover &amp; experience, Rule 170(i) EMD, Rule 172 capping the 30% advance); MSMED s.15/16 supplies the payment clock.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Policy demand already exists: Maharashtra Innovation Policy 2025, Section 13.7, commits to exactly these procurement guidelines — Sanyog is the working mechanism, ready to adopt.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Precedents already in force: Telangana G.O. Ms. 08 (deemed approval), Odisha’s 3-client scale gate, Kerala GO(Ms) 2/2022 (₹50L direct route). Prototype is fully built and running — not a concept.</a:t>
            </a:r>
          </a:p>
          <a:p>
            <a:pPr marL="285750" indent="-285750">
              <a:lnSpc>
                <a:spcPct val="100000"/>
              </a:lnSpc>
              <a:spcBef>
                <a:spcPts val="1000"/>
              </a:spcBef>
              <a:spcAft>
                <a:spcPts val="200"/>
              </a:spcAft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Potential challenges and risks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Subjective or opaque evaluation · late payments starving startups · citizen-data and security exposure · pilots that never convert to procurement (iDEX: ~8% conversion).</a:t>
            </a:r>
          </a:p>
          <a:p>
            <a:pPr marL="285750" indent="-285750">
              <a:lnSpc>
                <a:spcPct val="100000"/>
              </a:lnSpc>
              <a:spcBef>
                <a:spcPts val="1000"/>
              </a:spcBef>
              <a:spcAft>
                <a:spcPts val="200"/>
              </a:spcAft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Strategies for overcoming these challenges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Dual-axis 0–50 scores stored per evaluator with a mandatory written rationale and conflict declaration — every decision defensible on audit.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A 45-day clock on every tranche with overdue MSMED interest (3x bank rate) shown on the department’s own screen; release is blocked until verification is recorded.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CERT-In-empanelled audit before any go-live; ISO/IEC 27001:2022 editions only; data anonymised and localised in India; every sandbox has a fixed exit date.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The three-department validation gate converts pilot evidence into a GeM listing within GFR Rule 149 thresholds — closing the pilot-to-purchase gap without a fresh tender.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/>
              <a:t>PRODHUB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078992"/>
            <a:ext cx="1138428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285750" indent="-285750"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Potential impact on the target audience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Startups — paid within 45 days instead of months; no turnover / experience / EMD walls; departmental demand finally visible; one validated pilot opens every department and district.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Departments — risk bounded by design (sandbox exit dates, liability caps, IP clarity); evaluation and payment decisions carry evidence; standard templates replace months of drafting.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Citizens — water, health and mobility solutions reach the field in ~16 weeks, with outcomes measured against locked baselines rather than claimed in reports.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Benefits of the solution (social, economic, environmental, etc.)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Economic — startup cashflow survives government sales (30% mobilisation advance + clocked tranches); wider MSME participation in public procurement; evidence-based spending.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Social — transparent, reasoned public decisions with arbitrariness engineered out; successful pilots scale to every district, not just the pilot ward.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Environmental — pilots target measurable resource loss: non-revenue water cut from 38% toward 24% in the demo arc; transformer failures pre-empted before outages waste supply.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Arial"/>
              </a:rPr>
              <a:t>Governance — 100% of decisions attributable and audit-traceable; scale-up rests on independently validated outcomes, not vendor claims.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/>
              <a:t>PRODHUB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078992"/>
            <a:ext cx="1138428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285750" indent="-285750">
              <a:buFont typeface="Wingdings"/>
              <a:buChar char="v"/>
            </a:pPr>
            <a:r>
              <a:rPr sz="1450" b="1" u="sng">
                <a:solidFill>
                  <a:schemeClr val="tx2"/>
                </a:solidFill>
                <a:latin typeface="Arial"/>
              </a:rPr>
              <a:t>Details / Links of the reference and research work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General Financial Rules 2017, Dept of Expenditure — Rules 149 (GeM thresholds), 170(i) (EMD exemption), 172 (30% advance cap), 173(i) (turnover &amp; experience relaxation) · doe.gov.in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MSMED Act 2006 — s.15 (45-day payment ceiling that cannot be contracted around) and s.16 (default interest at 3x the RBI bank rate, compounded monthly)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Maharashtra Innovation &amp; Startup Policy 2025 — Section 13.7, startup-procurement guidelines and pilot support · msins.in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State precedents — Telangana G.O. Ms. No. 08 (deemed approval) · Odisha Startup Policy (3-client scale gate) · Kerala GO(Ms) 2/2022/SPD (₹50L direct purchase)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CERT-In — Directions 2022 and Guidelines for Government Entities 2023: empanelled pre-hosting audit, 6-hour incident reporting, 180-day logs in India · cert-in.org.in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DPDP Act 2023 · ISO/IEC 27001:2022 (the 2013 edition expired 31 Oct 2025 — the platform accepts :2022 only)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iDEX / DISC outcome data, Ministry of Defence — ~548 challenges to ~45 procurement contracts (≈8%): the pilot-to-purchase gap Stage 8 is designed to close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US SBIR — 15 U.S.C. Section 638(r)(4) · UK SBRI Condition 27 — competitive entry + verified pilot supports a lawful non-competed follow-on; arising IP retained by the supplier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NHS England KPI framework · HM Treasury Magenta Book — baseline–target–threshold KPI schema and pre-registered evaluation design (adopted in Stages 1 and 7)</a:t>
            </a:r>
          </a:p>
          <a:p>
            <a:pPr marL="285750" indent="-28575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Font typeface="Arial"/>
              <a:buChar char="•"/>
            </a:pPr>
            <a:r>
              <a:rPr sz="1150" b="0">
                <a:solidFill>
                  <a:srgbClr val="000000"/>
                </a:solidFill>
                <a:latin typeface="Arial"/>
              </a:rPr>
              <a:t>Working prototype (Team PRODHUB) — LIVE at https://sanyog.ashutosh-palai2005.workers.dev · full 8-stage platform with the 3 mandated templates · code: github.com/Ashutoshpalai3073/PRODHUB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/>
              <a:t>PRODHUB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