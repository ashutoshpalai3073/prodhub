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1883664"/>
            <a:ext cx="553212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  <a:latin typeface="Arial"/>
              </a:rPr>
              <a:t>SANYOG</a:t>
            </a:r>
            <a:r>
              <a:rPr sz="1500" b="1">
                <a:solidFill>
                  <a:srgbClr val="E06C1F"/>
                </a:solidFill>
                <a:latin typeface="Nirmala UI"/>
              </a:rPr>
              <a:t>  संयोग</a:t>
            </a:r>
            <a:r>
              <a:rPr sz="1150" b="0">
                <a:solidFill>
                  <a:srgbClr val="6A707C"/>
                </a:solidFill>
                <a:latin typeface="Arial"/>
              </a:rPr>
              <a:t>  — from problem, to pilot, to procurement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" y="2542032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4048" y="2487168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4048" y="2487168"/>
            <a:ext cx="45720" cy="896112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260604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2834640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52B"/>
                </a:solidFill>
                <a:latin typeface="Arial"/>
              </a:rPr>
              <a:t>SIH26136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08860" y="2542032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263140" y="2487168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63140" y="2487168"/>
            <a:ext cx="45720" cy="896112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09444" y="260604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PS CATEGORY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9444" y="2834640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52B"/>
                </a:solidFill>
                <a:latin typeface="Arial"/>
              </a:rPr>
              <a:t>Software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87952" y="2542032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142232" y="2487168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142232" y="2487168"/>
            <a:ext cx="45720" cy="896112"/>
          </a:xfrm>
          <a:prstGeom prst="roundRect">
            <a:avLst>
              <a:gd name="adj" fmla="val 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260604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THEME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8536" y="2834640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52B"/>
                </a:solidFill>
                <a:latin typeface="Arial"/>
              </a:rPr>
              <a:t>Miscellaneous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" y="3566160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84048" y="3511296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84048" y="3511296"/>
            <a:ext cx="45720" cy="896112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630168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TEAM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3858768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52B"/>
                </a:solidFill>
                <a:latin typeface="Arial"/>
              </a:rPr>
              <a:t>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08860" y="3566160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263140" y="3511296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263140" y="3511296"/>
            <a:ext cx="45720" cy="896112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09444" y="3630168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TEAM 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09444" y="3858768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52B"/>
                </a:solidFill>
                <a:latin typeface="Arial"/>
              </a:rPr>
              <a:t>PRODHUB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87952" y="3566160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142232" y="3511296"/>
            <a:ext cx="1773936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142232" y="3511296"/>
            <a:ext cx="45720" cy="896112"/>
          </a:xfrm>
          <a:prstGeom prst="roundRect">
            <a:avLst>
              <a:gd name="adj" fmla="val 0"/>
            </a:avLst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8536" y="3630168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A707C"/>
                </a:solidFill>
                <a:latin typeface="Arial"/>
              </a:rPr>
              <a:t>ORGANISATION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8536" y="3858768"/>
            <a:ext cx="1536192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1252B"/>
                </a:solidFill>
                <a:latin typeface="Arial"/>
              </a:rPr>
              <a:t>Govt of Maharashtra · MSInS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9768" y="4681728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4048" y="4626864"/>
            <a:ext cx="5532120" cy="1170432"/>
          </a:xfrm>
          <a:prstGeom prst="roundRect">
            <a:avLst>
              <a:gd name="adj" fmla="val 8000"/>
            </a:avLst>
          </a:prstGeom>
          <a:solidFill>
            <a:srgbClr val="E9F0F8"/>
          </a:solidFill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4754880"/>
            <a:ext cx="5166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4E79"/>
                </a:solidFill>
                <a:latin typeface="Arial"/>
              </a:rPr>
              <a:t>PROBLEM STATEMENT TITLE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974336"/>
            <a:ext cx="5166360" cy="7680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252B"/>
                </a:solidFill>
                <a:latin typeface="Arial"/>
              </a:rPr>
              <a:t>Startup friendly public procurement mechanism that enables government departments to identify, pilot, procure, and scale innovative solutions from eligible startups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" y="5989320"/>
            <a:ext cx="553212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" y="5989320"/>
            <a:ext cx="5257800" cy="38404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7C41"/>
                </a:solidFill>
                <a:latin typeface="Arial"/>
              </a:rPr>
              <a:t>● LIVE</a:t>
            </a:r>
            <a:r>
              <a:rPr sz="1050" b="1">
                <a:solidFill>
                  <a:srgbClr val="21252B"/>
                </a:solidFill>
                <a:latin typeface="Arial"/>
              </a:rPr>
              <a:t>   sanyog.ashutosh-palai2005.workers.dev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/>
              <a:t>PRODHUB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11480" y="1060704"/>
            <a:ext cx="11384280" cy="329184"/>
          </a:xfrm>
          <a:prstGeom prst="roundRect">
            <a:avLst>
              <a:gd name="adj" fmla="val 14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1060704"/>
            <a:ext cx="50292" cy="329184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576072" y="1060704"/>
            <a:ext cx="111099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4E79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1481328"/>
            <a:ext cx="1129284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SANYOG (संयोग) — </a:t>
            </a:r>
            <a:r>
              <a:rPr sz="1250" b="1">
                <a:solidFill>
                  <a:srgbClr val="3A404A"/>
                </a:solidFill>
                <a:latin typeface="Arial"/>
              </a:rPr>
              <a:t>an end-to-end digital pathway that takes a government department from a written problem to a scaled, procured startup solution — in eight governed stages, on one platform.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38912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Arial"/>
              </a:rPr>
              <a:t>1 · CHALLENGE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1842516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4F3F4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1869948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Arial"/>
              </a:rPr>
              <a:t>2 · SCREEN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3273552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F1EB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3300984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3FA0"/>
                </a:solidFill>
                <a:latin typeface="Arial"/>
              </a:rPr>
              <a:t>3 · EVALUATE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704588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FCEFE3"/>
          </a:solidFill>
          <a:ln w="12700">
            <a:solidFill>
              <a:srgbClr val="E0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4732020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06C1F"/>
                </a:solidFill>
                <a:latin typeface="Arial"/>
              </a:rPr>
              <a:t>4 · SANDBOX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135624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 w="12700">
            <a:solidFill>
              <a:srgbClr val="B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6163056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3A2E"/>
                </a:solidFill>
                <a:latin typeface="Arial"/>
              </a:rPr>
              <a:t>5 · CONTRACT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566660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7594092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07C41"/>
                </a:solidFill>
                <a:latin typeface="Arial"/>
              </a:rPr>
              <a:t>6 · MILESTONES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8997696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4F3F4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9025128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Arial"/>
              </a:rPr>
              <a:t>7 · VALIDATE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10428732" y="2048256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10456164" y="2048256"/>
            <a:ext cx="1275588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07C41"/>
                </a:solidFill>
                <a:latin typeface="Arial"/>
              </a:rPr>
              <a:t>8 · SCALE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57200" y="2578608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411480" y="2523744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411480" y="2523744"/>
            <a:ext cx="3703320" cy="548640"/>
          </a:xfrm>
          <a:prstGeom prst="roundRect">
            <a:avLst>
              <a:gd name="adj" fmla="val 10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411480" y="2523744"/>
            <a:ext cx="45720" cy="3712463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576072" y="2523744"/>
            <a:ext cx="3429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576072" y="3236976"/>
            <a:ext cx="3392424" cy="457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Departments publish outcome-based challenges — a measured baseline → target is mandatory, so every pilot is verifiable by construction.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DPIIT-recognised startups are auto-screened on application; pilots run in a governed sandbox with security clearance and a fixed exit date.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Payments release 30/40/30 against verified milestones; independent validators record results against pre-locked KPIs.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297680" y="2578608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4251960" y="2523744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4251960" y="2523744"/>
            <a:ext cx="3703320" cy="548640"/>
          </a:xfrm>
          <a:prstGeom prst="roundRect">
            <a:avLst>
              <a:gd name="adj" fmla="val 10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ounded Rectangle 15390"/>
          <p:cNvSpPr/>
          <p:nvPr/>
        </p:nvSpPr>
        <p:spPr>
          <a:xfrm>
            <a:off x="4251960" y="2523744"/>
            <a:ext cx="45720" cy="3712463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TextBox 15391"/>
          <p:cNvSpPr txBox="1"/>
          <p:nvPr/>
        </p:nvSpPr>
        <p:spPr>
          <a:xfrm>
            <a:off x="4416552" y="2523744"/>
            <a:ext cx="3429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06C1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416552" y="3236976"/>
            <a:ext cx="3392424" cy="457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6C1F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Removes turnover, prior-experience and EMD barriers (GFR 173(i) &amp; 170(i) as defaults) — quality criteria never waived.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E06C1F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The three mandated documents — Problem Statement, Pilot MOU, Scale-Up Scorecard — are working digital forms, not PDFs.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E06C1F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Demand becomes visible, payments timed, evaluations accountable, every decision evidence-based and audit-traceable.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8138160" y="2578608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Rounded Rectangle 15394"/>
          <p:cNvSpPr/>
          <p:nvPr/>
        </p:nvSpPr>
        <p:spPr>
          <a:xfrm>
            <a:off x="8092440" y="2523744"/>
            <a:ext cx="3703320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ounded Rectangle 15395"/>
          <p:cNvSpPr/>
          <p:nvPr/>
        </p:nvSpPr>
        <p:spPr>
          <a:xfrm>
            <a:off x="8092440" y="2523744"/>
            <a:ext cx="3703320" cy="548640"/>
          </a:xfrm>
          <a:prstGeom prst="roundRect">
            <a:avLst>
              <a:gd name="adj" fmla="val 10000"/>
            </a:avLst>
          </a:prstGeom>
          <a:solidFill>
            <a:srgbClr val="F1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Rounded Rectangle 15396"/>
          <p:cNvSpPr/>
          <p:nvPr/>
        </p:nvSpPr>
        <p:spPr>
          <a:xfrm>
            <a:off x="8092440" y="2523744"/>
            <a:ext cx="45720" cy="3712463"/>
          </a:xfrm>
          <a:prstGeom prst="roundRect">
            <a:avLst>
              <a:gd name="adj" fmla="val 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8257032" y="2523744"/>
            <a:ext cx="3429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B3FA0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257032" y="3236976"/>
            <a:ext cx="3392424" cy="457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3FA0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Compliance is computed, not promised — the database refuses payment without verification, sandboxes without clearance, rejection without reason.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6B3FA0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KPIs are locked before measurement begins; deemed-approval clocks; attributable panel scores with mandatory written rationale.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1">
                <a:solidFill>
                  <a:srgbClr val="6B3FA0"/>
                </a:solidFill>
                <a:latin typeface="Arial"/>
              </a:rPr>
              <a:t>▪  </a:t>
            </a:r>
            <a:r>
              <a:rPr sz="1000" b="0">
                <a:solidFill>
                  <a:srgbClr val="3A404A"/>
                </a:solidFill>
                <a:latin typeface="Arial"/>
              </a:rPr>
              <a:t>Three satisfactory departmental validations unlock scale-up — the evidence pack exports directly to GeM. No fresh tender.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/>
              <a:t>PRODHUB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987552"/>
            <a:ext cx="11384280" cy="310896"/>
          </a:xfrm>
          <a:prstGeom prst="roundRect">
            <a:avLst>
              <a:gd name="adj" fmla="val 14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987552"/>
            <a:ext cx="50292" cy="310896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987552"/>
            <a:ext cx="111099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389888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8912" y="1389888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Arial"/>
              </a:rPr>
              <a:t>React 19 + TanStack Start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78124" y="1389888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305556" y="1389888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6C1F"/>
                </a:solidFill>
                <a:latin typeface="Arial"/>
              </a:rPr>
              <a:t>Cloudflare Workers · edge SSR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44768" y="1389888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172200" y="1389888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7C41"/>
                </a:solidFill>
                <a:latin typeface="Arial"/>
              </a:rPr>
              <a:t>Supabase PostgreSQL · RLS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11412" y="1389888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9038844" y="1389888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3FA0"/>
                </a:solidFill>
                <a:latin typeface="Arial"/>
              </a:rPr>
              <a:t>Groq LLM · FitScore™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1773936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38912" y="1773936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rial"/>
              </a:rPr>
              <a:t>JWT + Google OAuth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78124" y="1773936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305556" y="1773936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2E"/>
                </a:solidFill>
                <a:latin typeface="Arial"/>
              </a:rPr>
              <a:t>DPIIT auto-screening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44768" y="1773936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172200" y="1773936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7C41"/>
                </a:solidFill>
                <a:latin typeface="Arial"/>
              </a:rPr>
              <a:t>GeM · Startup Runway export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011412" y="1773936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9038844" y="1773936"/>
            <a:ext cx="2706624" cy="31089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Arial"/>
              </a:rPr>
              <a:t>Rules enforced in the DB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1480" y="2231136"/>
            <a:ext cx="11384280" cy="310896"/>
          </a:xfrm>
          <a:prstGeom prst="roundRect">
            <a:avLst>
              <a:gd name="adj" fmla="val 14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11480" y="2231136"/>
            <a:ext cx="50292" cy="310896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576072" y="2231136"/>
            <a:ext cx="111099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11480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E9F0F8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466344" y="2843784"/>
            <a:ext cx="256032" cy="25603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66344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77240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Challenge published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677924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1824228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E4F3F4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Oval 17437"/>
          <p:cNvSpPr/>
          <p:nvPr/>
        </p:nvSpPr>
        <p:spPr>
          <a:xfrm>
            <a:off x="1879092" y="2843784"/>
            <a:ext cx="256032" cy="2560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1879092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189988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Eligibility screen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090672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236976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F1EBF8"/>
          </a:solidFill>
          <a:ln w="1397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3291840" y="2843784"/>
            <a:ext cx="256032" cy="256032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3291840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602736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Panel evaluation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503420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649724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FCEFE3"/>
          </a:solidFill>
          <a:ln w="13970">
            <a:solidFill>
              <a:srgbClr val="E0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4704588" y="2843784"/>
            <a:ext cx="256032" cy="256032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4704588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015484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Sandbox clearance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916168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062472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FAEAE7"/>
          </a:solidFill>
          <a:ln w="13970">
            <a:solidFill>
              <a:srgbClr val="B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6117336" y="2843784"/>
            <a:ext cx="256032" cy="256032"/>
          </a:xfrm>
          <a:prstGeom prst="ellipse">
            <a:avLst/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117336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428232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Milestone payments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328916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475220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E6F4EC"/>
          </a:solidFill>
          <a:ln w="1397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7530084" y="2843784"/>
            <a:ext cx="256032" cy="256032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7530084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840980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Independent validation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741664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8887968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E4F3F4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Oval 17462"/>
          <p:cNvSpPr/>
          <p:nvPr/>
        </p:nvSpPr>
        <p:spPr>
          <a:xfrm>
            <a:off x="8942832" y="2843784"/>
            <a:ext cx="256032" cy="2560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8942832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253728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Three-dept gate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10154412" y="2816352"/>
            <a:ext cx="16459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07C"/>
                </a:solidFill>
                <a:latin typeface="Arial"/>
              </a:rPr>
              <a:t>→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10300716" y="2688336"/>
            <a:ext cx="1280160" cy="566928"/>
          </a:xfrm>
          <a:prstGeom prst="roundRect">
            <a:avLst>
              <a:gd name="adj" fmla="val 14000"/>
            </a:avLst>
          </a:prstGeom>
          <a:solidFill>
            <a:srgbClr val="E6F4EC"/>
          </a:solidFill>
          <a:ln w="1397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Oval 17467"/>
          <p:cNvSpPr/>
          <p:nvPr/>
        </p:nvSpPr>
        <p:spPr>
          <a:xfrm>
            <a:off x="10355580" y="2843784"/>
            <a:ext cx="256032" cy="256032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10355580" y="2843784"/>
            <a:ext cx="256032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10666476" y="2724912"/>
            <a:ext cx="859536" cy="4937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1252B"/>
                </a:solidFill>
                <a:latin typeface="Arial"/>
              </a:rPr>
              <a:t>GeM scale-up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731520" y="3456432"/>
            <a:ext cx="5010912" cy="2767888"/>
          </a:xfrm>
          <a:prstGeom prst="roundRect">
            <a:avLst>
              <a:gd name="adj" fmla="val 3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2" name="Picture 17471" descr="challenge_desk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01568"/>
            <a:ext cx="5010912" cy="2767888"/>
          </a:xfrm>
          <a:prstGeom prst="rect">
            <a:avLst/>
          </a:prstGeom>
          <a:ln w="12700">
            <a:solidFill>
              <a:srgbClr val="D5DAE3"/>
            </a:solidFill>
          </a:ln>
          <a:effectLst/>
        </p:spPr>
      </p:pic>
      <p:sp>
        <p:nvSpPr>
          <p:cNvPr id="17473" name="Rounded Rectangle 17472"/>
          <p:cNvSpPr/>
          <p:nvPr/>
        </p:nvSpPr>
        <p:spPr>
          <a:xfrm>
            <a:off x="758952" y="3474720"/>
            <a:ext cx="1529791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758952" y="3474720"/>
            <a:ext cx="1529791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F4E79"/>
                </a:solidFill>
                <a:latin typeface="Arial"/>
              </a:rPr>
              <a:t>CHALLENGE DESK · LIVE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5916168" y="3456432"/>
            <a:ext cx="3886200" cy="1036015"/>
          </a:xfrm>
          <a:prstGeom prst="roundRect">
            <a:avLst>
              <a:gd name="adj" fmla="val 3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6" name="Picture 17475" descr="milestones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401568"/>
            <a:ext cx="3886200" cy="1036015"/>
          </a:xfrm>
          <a:prstGeom prst="rect">
            <a:avLst/>
          </a:prstGeom>
          <a:ln w="12700">
            <a:solidFill>
              <a:srgbClr val="D5DAE3"/>
            </a:solidFill>
          </a:ln>
          <a:effectLst/>
        </p:spPr>
      </p:pic>
      <p:sp>
        <p:nvSpPr>
          <p:cNvPr id="17477" name="Rounded Rectangle 17476"/>
          <p:cNvSpPr/>
          <p:nvPr/>
        </p:nvSpPr>
        <p:spPr>
          <a:xfrm>
            <a:off x="5943600" y="3474720"/>
            <a:ext cx="119603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5943600" y="3474720"/>
            <a:ext cx="1196035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07C41"/>
                </a:solidFill>
                <a:latin typeface="Arial"/>
              </a:rPr>
              <a:t>MILESTONE ENGINE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5916168" y="4562856"/>
            <a:ext cx="3886200" cy="1651406"/>
          </a:xfrm>
          <a:prstGeom prst="roundRect">
            <a:avLst>
              <a:gd name="adj" fmla="val 3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80" name="Picture 17479" descr="scale_gate_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4507992"/>
            <a:ext cx="3886200" cy="1651406"/>
          </a:xfrm>
          <a:prstGeom prst="rect">
            <a:avLst/>
          </a:prstGeom>
          <a:ln w="12700">
            <a:solidFill>
              <a:srgbClr val="D5DAE3"/>
            </a:solidFill>
          </a:ln>
          <a:effectLst/>
        </p:spPr>
      </p:pic>
      <p:sp>
        <p:nvSpPr>
          <p:cNvPr id="17481" name="Rounded Rectangle 17480"/>
          <p:cNvSpPr/>
          <p:nvPr/>
        </p:nvSpPr>
        <p:spPr>
          <a:xfrm>
            <a:off x="5943600" y="4581144"/>
            <a:ext cx="13962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5943600" y="4581144"/>
            <a:ext cx="1396288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07C41"/>
                </a:solidFill>
                <a:latin typeface="Arial"/>
              </a:rPr>
              <a:t>SCALE-UP GATE · 3/3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9976104" y="3456432"/>
            <a:ext cx="1277416" cy="2764231"/>
          </a:xfrm>
          <a:prstGeom prst="roundRect">
            <a:avLst>
              <a:gd name="adj" fmla="val 3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84" name="Picture 17483" descr="board_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384" y="3401568"/>
            <a:ext cx="1277416" cy="2764231"/>
          </a:xfrm>
          <a:prstGeom prst="rect">
            <a:avLst/>
          </a:prstGeom>
          <a:ln w="12700">
            <a:solidFill>
              <a:srgbClr val="D5DAE3"/>
            </a:solidFill>
          </a:ln>
          <a:effectLst/>
        </p:spPr>
      </p:pic>
      <p:sp>
        <p:nvSpPr>
          <p:cNvPr id="17485" name="Rounded Rectangle 17484"/>
          <p:cNvSpPr/>
          <p:nvPr/>
        </p:nvSpPr>
        <p:spPr>
          <a:xfrm>
            <a:off x="10003536" y="3474720"/>
            <a:ext cx="528523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10003536" y="3474720"/>
            <a:ext cx="528523" cy="219456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6B3FA0"/>
                </a:solidFill>
                <a:latin typeface="Arial"/>
              </a:rPr>
              <a:t>MOBILE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685800" y="6245352"/>
            <a:ext cx="10789920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A707C"/>
                </a:solidFill>
                <a:latin typeface="Arial"/>
              </a:rPr>
              <a:t>Working prototype — live at </a:t>
            </a:r>
            <a:r>
              <a:rPr sz="850" b="1" i="1">
                <a:solidFill>
                  <a:srgbClr val="1F4E79"/>
                </a:solidFill>
                <a:latin typeface="Arial"/>
              </a:rPr>
              <a:t>sanyog.ashutosh-palai2005.workers.dev</a:t>
            </a:r>
            <a:r>
              <a:rPr sz="850" b="0" i="1">
                <a:solidFill>
                  <a:srgbClr val="6A707C"/>
                </a:solidFill>
                <a:latin typeface="Arial"/>
              </a:rPr>
              <a:t>  ·  Challenge Desk · milestone engine · 3-department scale-up gate ·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/>
              <a:t>PRODHUB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078992"/>
            <a:ext cx="5486400" cy="513892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024128"/>
            <a:ext cx="5486400" cy="5138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024128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1024128"/>
            <a:ext cx="45720" cy="5138928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76072" y="1024128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7C41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94360" y="1664208"/>
            <a:ext cx="5138928" cy="457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7C41"/>
                </a:solidFill>
                <a:latin typeface="Arial"/>
              </a:rPr>
              <a:t>▪  </a:t>
            </a:r>
            <a:r>
              <a:rPr sz="1050" b="1">
                <a:solidFill>
                  <a:srgbClr val="21252B"/>
                </a:solidFill>
                <a:latin typeface="Arial"/>
              </a:rPr>
              <a:t>Needs no new law — </a:t>
            </a:r>
            <a:r>
              <a:rPr sz="1050" b="0">
                <a:solidFill>
                  <a:srgbClr val="3A404A"/>
                </a:solidFill>
                <a:latin typeface="Arial"/>
              </a:rPr>
              <a:t>GFR 2017 already permits every relaxation applied — Rule 173(i) turnover &amp; experience, Rule 170(i) EMD, Rule 172 capping the 30% advance; MSMED s.15/16 supplies the payment clock.</a:t>
            </a:r>
          </a:p>
          <a:p>
            <a:pPr algn="l">
              <a:lnSpc>
                <a:spcPct val="114000"/>
              </a:lnSpc>
              <a:spcBef>
                <a:spcPts val="1100"/>
              </a:spcBef>
              <a:spcAft>
                <a:spcPts val="0"/>
              </a:spcAft>
            </a:pPr>
            <a:r>
              <a:rPr sz="1050" b="1">
                <a:solidFill>
                  <a:srgbClr val="107C41"/>
                </a:solidFill>
                <a:latin typeface="Arial"/>
              </a:rPr>
              <a:t>▪  </a:t>
            </a:r>
            <a:r>
              <a:rPr sz="1050" b="1">
                <a:solidFill>
                  <a:srgbClr val="21252B"/>
                </a:solidFill>
                <a:latin typeface="Arial"/>
              </a:rPr>
              <a:t>Policy demand exists — </a:t>
            </a:r>
            <a:r>
              <a:rPr sz="1050" b="0">
                <a:solidFill>
                  <a:srgbClr val="3A404A"/>
                </a:solidFill>
                <a:latin typeface="Arial"/>
              </a:rPr>
              <a:t>Maharashtra Innovation Policy 2025, Section 13.7, commits to exactly these guidelines — Sanyog is the working mechanism, ready to adopt.</a:t>
            </a:r>
          </a:p>
          <a:p>
            <a:pPr algn="l">
              <a:lnSpc>
                <a:spcPct val="114000"/>
              </a:lnSpc>
              <a:spcBef>
                <a:spcPts val="1100"/>
              </a:spcBef>
              <a:spcAft>
                <a:spcPts val="0"/>
              </a:spcAft>
            </a:pPr>
            <a:r>
              <a:rPr sz="1050" b="1">
                <a:solidFill>
                  <a:srgbClr val="107C41"/>
                </a:solidFill>
                <a:latin typeface="Arial"/>
              </a:rPr>
              <a:t>▪  </a:t>
            </a:r>
            <a:r>
              <a:rPr sz="1050" b="1">
                <a:solidFill>
                  <a:srgbClr val="21252B"/>
                </a:solidFill>
                <a:latin typeface="Arial"/>
              </a:rPr>
              <a:t>Precedents in force — </a:t>
            </a:r>
            <a:r>
              <a:rPr sz="1050" b="0">
                <a:solidFill>
                  <a:srgbClr val="3A404A"/>
                </a:solidFill>
                <a:latin typeface="Arial"/>
              </a:rPr>
              <a:t>Telangana G.O. Ms. 08 (deemed approval) · Odisha’s 3-client scale gate · Kerala GO(Ms) 2/2022 (₹50L direct route).</a:t>
            </a:r>
          </a:p>
          <a:p>
            <a:pPr algn="l">
              <a:lnSpc>
                <a:spcPct val="114000"/>
              </a:lnSpc>
              <a:spcBef>
                <a:spcPts val="1100"/>
              </a:spcBef>
              <a:spcAft>
                <a:spcPts val="0"/>
              </a:spcAft>
            </a:pPr>
            <a:r>
              <a:rPr sz="1050" b="1">
                <a:solidFill>
                  <a:srgbClr val="107C41"/>
                </a:solidFill>
                <a:latin typeface="Arial"/>
              </a:rPr>
              <a:t>▪  </a:t>
            </a:r>
            <a:r>
              <a:rPr sz="1050" b="1">
                <a:solidFill>
                  <a:srgbClr val="21252B"/>
                </a:solidFill>
                <a:latin typeface="Arial"/>
              </a:rPr>
              <a:t>Prototype, not concept — </a:t>
            </a:r>
            <a:r>
              <a:rPr sz="1050" b="0">
                <a:solidFill>
                  <a:srgbClr val="3A404A"/>
                </a:solidFill>
                <a:latin typeface="Arial"/>
              </a:rPr>
              <a:t>Fully built and LIVE — both portals, all 8 stages, the 3 mandated templates, screening, payments, validation and the scale gate.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55080" y="1078992"/>
            <a:ext cx="5486400" cy="513892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309360" y="1024128"/>
            <a:ext cx="5486400" cy="5138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309360" y="1024128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FA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309360" y="1024128"/>
            <a:ext cx="45720" cy="5138928"/>
          </a:xfrm>
          <a:prstGeom prst="roundRect">
            <a:avLst>
              <a:gd name="adj" fmla="val 0"/>
            </a:avLst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473952" y="1024128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3A2E"/>
                </a:solidFill>
                <a:latin typeface="Arial"/>
              </a:rPr>
              <a:t>Potential challenges and risks </a:t>
            </a:r>
            <a:r>
              <a:rPr sz="1200" b="1">
                <a:solidFill>
                  <a:srgbClr val="107C41"/>
                </a:solidFill>
                <a:latin typeface="Arial"/>
              </a:rPr>
              <a:t>→ Strategies for overcoming these challenges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492240" y="1682496"/>
            <a:ext cx="5120640" cy="274320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656832" y="1682496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2E"/>
                </a:solidFill>
                <a:latin typeface="Arial"/>
              </a:rPr>
              <a:t>⚠  Subjective, opaque evaluation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656832" y="2020824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7C41"/>
                </a:solidFill>
                <a:latin typeface="Arial"/>
              </a:rPr>
              <a:t>→ </a:t>
            </a:r>
            <a:r>
              <a:rPr sz="1000" b="0">
                <a:solidFill>
                  <a:srgbClr val="3A404A"/>
                </a:solidFill>
                <a:latin typeface="Arial"/>
              </a:rPr>
              <a:t>Dual-axis 0–50 scores stored per evaluator with mandatory written rationale and conflict declaration — defensible on audit.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92240" y="2816352"/>
            <a:ext cx="5120640" cy="274320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656832" y="2816352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2E"/>
                </a:solidFill>
                <a:latin typeface="Arial"/>
              </a:rPr>
              <a:t>⚠  Late payments starve startups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656832" y="3154680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7C41"/>
                </a:solidFill>
                <a:latin typeface="Arial"/>
              </a:rPr>
              <a:t>→ </a:t>
            </a:r>
            <a:r>
              <a:rPr sz="1000" b="0">
                <a:solidFill>
                  <a:srgbClr val="3A404A"/>
                </a:solidFill>
                <a:latin typeface="Arial"/>
              </a:rPr>
              <a:t>A 45-day clock on every tranche; overdue MSMED interest (3x bank rate) on the department’s own screen; release blocked until verification.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92240" y="3950208"/>
            <a:ext cx="5120640" cy="274320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656832" y="3950208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2E"/>
                </a:solidFill>
                <a:latin typeface="Arial"/>
              </a:rPr>
              <a:t>⚠  Citizen-data &amp; security exposure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656832" y="4288536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7C41"/>
                </a:solidFill>
                <a:latin typeface="Arial"/>
              </a:rPr>
              <a:t>→ </a:t>
            </a:r>
            <a:r>
              <a:rPr sz="1000" b="0">
                <a:solidFill>
                  <a:srgbClr val="3A404A"/>
                </a:solidFill>
                <a:latin typeface="Arial"/>
              </a:rPr>
              <a:t>CERT-In-empanelled audit before go-live; ISO/IEC 27001:2022 only; data anonymised and localised in India; fixed sandbox exit dates.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492240" y="5084064"/>
            <a:ext cx="5120640" cy="274320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656832" y="5084064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2E"/>
                </a:solidFill>
                <a:latin typeface="Arial"/>
              </a:rPr>
              <a:t>⚠  Pilots that never scale (iDEX: ~8%)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656832" y="5422392"/>
            <a:ext cx="4882896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7C41"/>
                </a:solidFill>
                <a:latin typeface="Arial"/>
              </a:rPr>
              <a:t>→ </a:t>
            </a:r>
            <a:r>
              <a:rPr sz="1000" b="0">
                <a:solidFill>
                  <a:srgbClr val="3A404A"/>
                </a:solidFill>
                <a:latin typeface="Arial"/>
              </a:rPr>
              <a:t>The 3-department gate converts pilot evidence into a GeM listing within GFR Rule 149 thresholds — no fresh tender.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/>
              <a:t>PRODHUB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987552"/>
            <a:ext cx="11384280" cy="310896"/>
          </a:xfrm>
          <a:prstGeom prst="roundRect">
            <a:avLst>
              <a:gd name="adj" fmla="val 14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987552"/>
            <a:ext cx="50292" cy="310896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987552"/>
            <a:ext cx="111099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06C1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1481328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426464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1426464"/>
            <a:ext cx="2743200" cy="54864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57784" y="1536192"/>
            <a:ext cx="2468880" cy="365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7C41"/>
                </a:solidFill>
                <a:latin typeface="Arial"/>
              </a:rPr>
              <a:t>45 days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57784" y="192024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A707C"/>
                </a:solidFill>
                <a:latin typeface="Arial"/>
              </a:rPr>
              <a:t>hard payment ceiling on every milestone (MSMED s.15)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19272" y="1481328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273552" y="1426464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273552" y="1426464"/>
            <a:ext cx="2743200" cy="54864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419856" y="1536192"/>
            <a:ext cx="2468880" cy="365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7C86"/>
                </a:solidFill>
                <a:latin typeface="Arial"/>
              </a:rPr>
              <a:t>16 weeks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19856" y="192024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A707C"/>
                </a:solidFill>
                <a:latin typeface="Arial"/>
              </a:rPr>
              <a:t>from published challenge to a running pilot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81344" y="1481328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35624" y="1426464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6135624" y="1426464"/>
            <a:ext cx="2743200" cy="54864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281928" y="1536192"/>
            <a:ext cx="2468880" cy="365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06C1F"/>
                </a:solidFill>
                <a:latin typeface="Arial"/>
              </a:rPr>
              <a:t>3 validations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281928" y="192024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A707C"/>
                </a:solidFill>
                <a:latin typeface="Arial"/>
              </a:rPr>
              <a:t>unlock multi-department scale — no fresh tender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043416" y="1481328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8997696" y="1426464"/>
            <a:ext cx="274320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8997696" y="1426464"/>
            <a:ext cx="2743200" cy="54864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9144000" y="1536192"/>
            <a:ext cx="2468880" cy="365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E79"/>
                </a:solidFill>
                <a:latin typeface="Arial"/>
              </a:rPr>
              <a:t>100%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144000" y="192024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A707C"/>
                </a:solidFill>
                <a:latin typeface="Arial"/>
              </a:rPr>
              <a:t>of decisions attributable and audit-traceable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57200" y="2633472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411480" y="2578608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411480" y="2578608"/>
            <a:ext cx="45720" cy="1389888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76072" y="2688336"/>
            <a:ext cx="341071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STARTUPS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76072" y="2962656"/>
            <a:ext cx="3392424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04A"/>
                </a:solidFill>
                <a:latin typeface="Arial"/>
              </a:rPr>
              <a:t>Paid in 45 days, not months · no turnover / experience / EMD walls · demand finally visible · one validated pilot opens every department and district.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297680" y="2633472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4251960" y="2578608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4251960" y="2578608"/>
            <a:ext cx="45720" cy="1389888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4416552" y="2688336"/>
            <a:ext cx="341071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DEPARTMENTS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416552" y="2962656"/>
            <a:ext cx="3392424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04A"/>
                </a:solidFill>
                <a:latin typeface="Arial"/>
              </a:rPr>
              <a:t>Risk bounded by design (exit dates, liability caps, IP clarity) · decisions carry evidence · standard templates replace months of drafting.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138160" y="2633472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8092440" y="2578608"/>
            <a:ext cx="3703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8092440" y="2578608"/>
            <a:ext cx="45720" cy="1389888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8257032" y="2688336"/>
            <a:ext cx="3410712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7C41"/>
                </a:solidFill>
                <a:latin typeface="Arial"/>
              </a:rPr>
              <a:t>CITIZENS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57032" y="2962656"/>
            <a:ext cx="3392424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04A"/>
                </a:solidFill>
                <a:latin typeface="Arial"/>
              </a:rPr>
              <a:t>Water, health and mobility fixes reach the field in ~16 weeks · outcomes measured against locked baselines, not claimed in reports.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11480" y="4169663"/>
            <a:ext cx="11384280" cy="310896"/>
          </a:xfrm>
          <a:prstGeom prst="roundRect">
            <a:avLst>
              <a:gd name="adj" fmla="val 14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411480" y="4169663"/>
            <a:ext cx="50292" cy="310896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76072" y="4169663"/>
            <a:ext cx="111099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06C1F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11480" y="462686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411480" y="4626864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57200" y="4928616"/>
            <a:ext cx="5394960" cy="5120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A404A"/>
                </a:solidFill>
                <a:latin typeface="Arial"/>
              </a:rPr>
              <a:t>Startup cashflow survives government sales — 30% mobilisation advance + clocked tranches; wider MSME participation in public procurement.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309360" y="462686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309360" y="4626864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355080" y="4928616"/>
            <a:ext cx="5394960" cy="5120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A404A"/>
                </a:solidFill>
                <a:latin typeface="Arial"/>
              </a:rPr>
              <a:t>Transparent, reasoned public decisions — arbitrariness engineered out; successful pilots scale to every district, not just the pilot ward.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11480" y="54864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411480" y="548640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57200" y="5788152"/>
            <a:ext cx="5394960" cy="5120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A404A"/>
                </a:solidFill>
                <a:latin typeface="Arial"/>
              </a:rPr>
              <a:t>Pilots target measurable resource loss — non-revenue water 38% → 24% in the demo arc; transformer failures pre-empted before outages.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309360" y="54864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6309360" y="548640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355080" y="5788152"/>
            <a:ext cx="5394960" cy="5120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A404A"/>
                </a:solidFill>
                <a:latin typeface="Arial"/>
              </a:rPr>
              <a:t>Every decision attributable and audit-traceable; scale-up rests on independently validated outcomes, not vendor claims.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/>
              <a:t>PRODHUB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987552"/>
            <a:ext cx="11384280" cy="310896"/>
          </a:xfrm>
          <a:prstGeom prst="roundRect">
            <a:avLst>
              <a:gd name="adj" fmla="val 14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987552"/>
            <a:ext cx="50292" cy="310896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987552"/>
            <a:ext cx="111099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1517904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463040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1463040"/>
            <a:ext cx="45720" cy="859536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66928" y="1545336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General Financial Rules 2017 — Dept of Expenditure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1792224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Rules 149 (GeM thresholds), 170(i) EMD exemption, 172 (30% advance cap), 173(i) turnover &amp; experience relaxation · doe.gov.in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81344" y="1517904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135624" y="1463040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135624" y="1463040"/>
            <a:ext cx="45720" cy="859536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291072" y="1545336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MSMED Act 2006 — s.15, s.16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91072" y="1792224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45-day payment ceiling that cannot be contracted around; default interest at 3x the RBI bank rate, compounded monthly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2482596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11480" y="2427732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2427732"/>
            <a:ext cx="45720" cy="859536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66928" y="2510028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Maharashtra Innovation &amp; Startup Policy 2025 — s.13.7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66928" y="2756916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State commitment to startup-procurement guidelines and pilot support · msins.in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81344" y="2482596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6135624" y="2427732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135624" y="2427732"/>
            <a:ext cx="45720" cy="859536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291072" y="2510028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State precedents in force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91072" y="2756916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Telangana G.O. Ms. No. 08 (deemed approval) · Odisha 3-client scale gate · Kerala GO(Ms) 2/2022/SPD (₹50L direct purchase)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57200" y="3447288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411480" y="3392424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411480" y="3392424"/>
            <a:ext cx="45720" cy="859536"/>
          </a:xfrm>
          <a:prstGeom prst="roundRect">
            <a:avLst>
              <a:gd name="adj" fmla="val 0"/>
            </a:avLst>
          </a:prstGeom>
          <a:solidFill>
            <a:srgbClr val="B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66928" y="3474720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CERT-In — Directions 2022 &amp; Guidelines for Govt Entities 2023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66928" y="3721608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Empanelled pre-hosting audit · 6-hour incident reporting · 180-day logs within India · cert-in.org.in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81344" y="3447288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6135624" y="3392424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6135624" y="3392424"/>
            <a:ext cx="45720" cy="859536"/>
          </a:xfrm>
          <a:prstGeom prst="roundRect">
            <a:avLst>
              <a:gd name="adj" fmla="val 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291072" y="3474720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DPDP Act 2023 · ISO/IEC 27001:2022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291072" y="3721608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Data-protection safeguards for sandbox pilots; the 2013 ISO edition expired 31 Oct 2025 — the platform accepts :2022 only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4411980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411480" y="4357116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411480" y="4357116"/>
            <a:ext cx="45720" cy="859536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566928" y="4439412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iDEX / DISC outcome data — Ministry of Defence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66928" y="4686300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~548 challenges → ~45 procurement contracts (≈8%): the pilot-to-purchase gap Stage 8 is designed to close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181344" y="4411980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6135624" y="4357116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6135624" y="4357116"/>
            <a:ext cx="45720" cy="859536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291072" y="4439412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US SBIR 15 U.S.C. 638(r)(4) · UK SBRI Condition 27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291072" y="4686300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Competitive entry + verified pilot supports a lawful non-competed follow-on; arising IP retained by the supplier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57200" y="5376672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ounded Rectangle 17453"/>
          <p:cNvSpPr/>
          <p:nvPr/>
        </p:nvSpPr>
        <p:spPr>
          <a:xfrm>
            <a:off x="411480" y="5321808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411480" y="5321808"/>
            <a:ext cx="45720" cy="859536"/>
          </a:xfrm>
          <a:prstGeom prst="roundRect">
            <a:avLst>
              <a:gd name="adj" fmla="val 0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566928" y="5404104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1252B"/>
                </a:solidFill>
                <a:latin typeface="Arial"/>
              </a:rPr>
              <a:t>NHS England KPI framework · HM Treasury Magenta Book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566928" y="5650992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Baseline–target–threshold KPI schema and pre-registered evaluation design, adopted in Stages 1 and 7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6181344" y="5376672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DB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Rounded Rectangle 17458"/>
          <p:cNvSpPr/>
          <p:nvPr/>
        </p:nvSpPr>
        <p:spPr>
          <a:xfrm>
            <a:off x="6135624" y="5321808"/>
            <a:ext cx="5541264" cy="859536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143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ounded Rectangle 17459"/>
          <p:cNvSpPr/>
          <p:nvPr/>
        </p:nvSpPr>
        <p:spPr>
          <a:xfrm>
            <a:off x="6135624" y="5321808"/>
            <a:ext cx="45720" cy="859536"/>
          </a:xfrm>
          <a:prstGeom prst="roundRect">
            <a:avLst>
              <a:gd name="adj" fmla="val 0"/>
            </a:avLst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6291072" y="5404104"/>
            <a:ext cx="5266944" cy="21945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07C41"/>
                </a:solidFill>
                <a:latin typeface="Arial"/>
              </a:rPr>
              <a:t>Working prototype — Team PRODHUB · LIVE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291072" y="5650992"/>
            <a:ext cx="5266944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A404A"/>
                </a:solidFill>
                <a:latin typeface="Arial"/>
              </a:rPr>
              <a:t>sanyog.ashutosh-palai2005.workers.dev · full 8-stage platform, 3 mandated templates · code: github.com/Ashutoshpalai3073/PRODHUB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